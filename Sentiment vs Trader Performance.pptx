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7d9dc421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a7d9dc421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7d9dc4210_0_8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524000" y="2039514"/>
            <a:ext cx="9144000" cy="21280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ill Sans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524000" y="4221162"/>
            <a:ext cx="9144000" cy="882001"/>
          </a:xfrm>
          <a:prstGeom prst="rect">
            <a:avLst/>
          </a:prstGeom>
          <a:solidFill>
            <a:schemeClr val="accent2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rial"/>
              <a:buNone/>
              <a:defRPr b="1" i="1" sz="2500">
                <a:solidFill>
                  <a:schemeClr val="accent1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ntent">
  <p:cSld name="Six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530301" y="1690689"/>
            <a:ext cx="3148965" cy="19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3" type="body"/>
          </p:nvPr>
        </p:nvSpPr>
        <p:spPr>
          <a:xfrm>
            <a:off x="4888689" y="1702826"/>
            <a:ext cx="3148965" cy="19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4" type="body"/>
          </p:nvPr>
        </p:nvSpPr>
        <p:spPr>
          <a:xfrm>
            <a:off x="1337076" y="1702826"/>
            <a:ext cx="3148965" cy="19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5" type="body"/>
          </p:nvPr>
        </p:nvSpPr>
        <p:spPr>
          <a:xfrm>
            <a:off x="8530301" y="3849456"/>
            <a:ext cx="3148965" cy="19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6" type="body"/>
          </p:nvPr>
        </p:nvSpPr>
        <p:spPr>
          <a:xfrm>
            <a:off x="4888689" y="3849456"/>
            <a:ext cx="3148965" cy="19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7" type="body"/>
          </p:nvPr>
        </p:nvSpPr>
        <p:spPr>
          <a:xfrm>
            <a:off x="1337076" y="3849456"/>
            <a:ext cx="3148965" cy="19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"/>
          <p:cNvSpPr/>
          <p:nvPr>
            <p:ph idx="8" type="pic"/>
          </p:nvPr>
        </p:nvSpPr>
        <p:spPr>
          <a:xfrm>
            <a:off x="947634" y="1679576"/>
            <a:ext cx="376237" cy="376237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9" type="pic"/>
          </p:nvPr>
        </p:nvSpPr>
        <p:spPr>
          <a:xfrm>
            <a:off x="4499246" y="1679576"/>
            <a:ext cx="376237" cy="376237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/>
          <p:nvPr>
            <p:ph idx="13" type="pic"/>
          </p:nvPr>
        </p:nvSpPr>
        <p:spPr>
          <a:xfrm>
            <a:off x="8126282" y="1679576"/>
            <a:ext cx="376237" cy="376237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4"/>
          <p:cNvSpPr/>
          <p:nvPr>
            <p:ph idx="14" type="pic"/>
          </p:nvPr>
        </p:nvSpPr>
        <p:spPr>
          <a:xfrm>
            <a:off x="947634" y="3792079"/>
            <a:ext cx="376237" cy="376237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4"/>
          <p:cNvSpPr/>
          <p:nvPr>
            <p:ph idx="15" type="pic"/>
          </p:nvPr>
        </p:nvSpPr>
        <p:spPr>
          <a:xfrm>
            <a:off x="4499246" y="3792079"/>
            <a:ext cx="376237" cy="376237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4"/>
          <p:cNvSpPr/>
          <p:nvPr>
            <p:ph idx="16" type="pic"/>
          </p:nvPr>
        </p:nvSpPr>
        <p:spPr>
          <a:xfrm>
            <a:off x="8126282" y="3792079"/>
            <a:ext cx="376237" cy="376237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4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/>
          <p:nvPr>
            <p:ph idx="2" type="pic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5"/>
          <p:cNvSpPr/>
          <p:nvPr>
            <p:ph idx="3" type="pic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>
            <a:noFill/>
          </a:ln>
        </p:spPr>
      </p:sp>
      <p:sp>
        <p:nvSpPr>
          <p:cNvPr id="49" name="Google Shape;49;p5"/>
          <p:cNvSpPr/>
          <p:nvPr>
            <p:ph idx="4" type="pic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1612900" y="5033963"/>
            <a:ext cx="2700338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solidFill>
                  <a:srgbClr val="F2F2F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5" type="body"/>
          </p:nvPr>
        </p:nvSpPr>
        <p:spPr>
          <a:xfrm>
            <a:off x="4745831" y="5236700"/>
            <a:ext cx="2700338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solidFill>
                  <a:srgbClr val="F2F2F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6" type="body"/>
          </p:nvPr>
        </p:nvSpPr>
        <p:spPr>
          <a:xfrm>
            <a:off x="7878762" y="5033963"/>
            <a:ext cx="2700338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solidFill>
                  <a:srgbClr val="F2F2F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"/>
          <p:cNvSpPr/>
          <p:nvPr>
            <p:ph idx="7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7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p11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ill Sans"/>
              <a:buNone/>
              <a:defRPr b="1" i="0" sz="32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1753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1753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/>
        </p:txBody>
      </p:sp>
      <p:sp>
        <p:nvSpPr>
          <p:cNvPr id="14" name="Google Shape;14;p1"/>
          <p:cNvSpPr/>
          <p:nvPr/>
        </p:nvSpPr>
        <p:spPr>
          <a:xfrm>
            <a:off x="11561762" y="6227762"/>
            <a:ext cx="266700" cy="2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468100" y="6175375"/>
            <a:ext cx="357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92E"/>
              </a:buClr>
              <a:buSzPts val="1000"/>
              <a:buFont typeface="Arial   "/>
              <a:buNone/>
              <a:defRPr b="0" i="1" sz="1000" u="none">
                <a:solidFill>
                  <a:srgbClr val="00292E"/>
                </a:solidFill>
                <a:latin typeface="Arial   "/>
                <a:ea typeface="Arial   "/>
                <a:cs typeface="Arial   "/>
                <a:sym typeface="Arial  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eople with documents" id="108" name="Google Shape;108;p13"/>
          <p:cNvSpPr/>
          <p:nvPr/>
        </p:nvSpPr>
        <p:spPr>
          <a:xfrm>
            <a:off x="1275" y="120300"/>
            <a:ext cx="12189460" cy="6858000"/>
          </a:xfrm>
          <a:custGeom>
            <a:rect b="b" l="l" r="r" t="t"/>
            <a:pathLst>
              <a:path extrusionOk="0" h="6858000" w="1218946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2">
              <a:alpha val="69411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09" name="Google Shape;109;p13"/>
          <p:cNvSpPr txBox="1"/>
          <p:nvPr>
            <p:ph type="ctrTitle"/>
          </p:nvPr>
        </p:nvSpPr>
        <p:spPr>
          <a:xfrm>
            <a:off x="1524000" y="2039937"/>
            <a:ext cx="91440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ill Sans"/>
              <a:buNone/>
            </a:pPr>
            <a:r>
              <a:rPr b="1" i="0" lang="en-US" sz="5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Sentiment vs Trader Performance</a:t>
            </a:r>
            <a:endParaRPr/>
          </a:p>
        </p:txBody>
      </p:sp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3322637" y="4195762"/>
            <a:ext cx="5837237" cy="881062"/>
          </a:xfrm>
          <a:prstGeom prst="rect">
            <a:avLst/>
          </a:prstGeom>
          <a:solidFill>
            <a:schemeClr val="accent2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None/>
            </a:pPr>
            <a:r>
              <a:rPr b="1" i="1" lang="en-US" sz="2300" u="none">
                <a:solidFill>
                  <a:schemeClr val="accent1"/>
                </a:solidFill>
                <a:latin typeface="Arial   "/>
                <a:ea typeface="Arial   "/>
                <a:cs typeface="Arial   "/>
                <a:sym typeface="Arial   "/>
              </a:rPr>
              <a:t>A simple s</a:t>
            </a:r>
            <a:r>
              <a:rPr b="1" i="1" lang="en-US" sz="2300" u="none">
                <a:solidFill>
                  <a:schemeClr val="accent1"/>
                </a:solidFill>
                <a:latin typeface="Arial   "/>
                <a:ea typeface="Arial   "/>
                <a:cs typeface="Arial   "/>
                <a:sym typeface="Arial   "/>
              </a:rPr>
              <a:t>t</a:t>
            </a:r>
            <a:r>
              <a:rPr b="1" i="1" lang="en-US" sz="2300" u="none">
                <a:solidFill>
                  <a:schemeClr val="accent1"/>
                </a:solidFill>
                <a:latin typeface="Arial   "/>
                <a:ea typeface="Arial   "/>
                <a:cs typeface="Arial   "/>
                <a:sym typeface="Arial   "/>
              </a:rPr>
              <a:t>udy of how market emotions (Fear &amp; Greed) affect trader results.</a:t>
            </a:r>
            <a:endParaRPr/>
          </a:p>
        </p:txBody>
      </p:sp>
      <p:sp>
        <p:nvSpPr>
          <p:cNvPr descr="Beige rectangle" id="111" name="Google Shape;111;p13"/>
          <p:cNvSpPr/>
          <p:nvPr/>
        </p:nvSpPr>
        <p:spPr>
          <a:xfrm>
            <a:off x="4043362" y="3230562"/>
            <a:ext cx="4105275" cy="0"/>
          </a:xfrm>
          <a:custGeom>
            <a:rect b="b" l="l" r="r" t="t"/>
            <a:pathLst>
              <a:path extrusionOk="0" h="120000"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type="title"/>
          </p:nvPr>
        </p:nvSpPr>
        <p:spPr>
          <a:xfrm>
            <a:off x="769937" y="331787"/>
            <a:ext cx="5165725" cy="835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Gill Sans"/>
              <a:buNone/>
            </a:pPr>
            <a:r>
              <a:rPr b="1" i="0" lang="en-US" sz="29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This Project Is About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   "/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2"/>
                </a:solidFill>
                <a:latin typeface="Arial   "/>
                <a:ea typeface="Arial   "/>
                <a:cs typeface="Arial   "/>
                <a:sym typeface="Arial   "/>
              </a:rPr>
              <a:t>‹#›</a:t>
            </a:fld>
            <a:endParaRPr b="0" i="1" sz="1000" u="none" cap="none" strike="noStrike">
              <a:solidFill>
                <a:schemeClr val="dk2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485775" y="1331912"/>
            <a:ext cx="8466137" cy="484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Markets move based on emotions like </a:t>
            </a:r>
            <a:r>
              <a:rPr b="0" i="1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Fear</a:t>
            </a:r>
            <a:r>
              <a:rPr b="0" i="0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and </a:t>
            </a:r>
            <a:r>
              <a:rPr b="0" i="1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Greed</a:t>
            </a:r>
            <a:r>
              <a:rPr b="0" i="0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Traders also react to these emotions.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This project asks a simple question: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br>
              <a:rPr b="0" i="0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</a:br>
            <a:r>
              <a:rPr b="1" i="0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“Does market sentiment actually impact how traders perform?”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We analyzed two datasets: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Market Sentiment (Fear–Greed Index)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Trader Performance Data</a:t>
            </a:r>
            <a:endParaRPr/>
          </a:p>
        </p:txBody>
      </p:sp>
      <p:sp>
        <p:nvSpPr>
          <p:cNvPr descr="Beige rectangle" id="120" name="Google Shape;120;p14"/>
          <p:cNvSpPr/>
          <p:nvPr/>
        </p:nvSpPr>
        <p:spPr>
          <a:xfrm>
            <a:off x="882650" y="1166812"/>
            <a:ext cx="4537075" cy="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eige oval" id="126" name="Google Shape;126;p15"/>
          <p:cNvSpPr/>
          <p:nvPr/>
        </p:nvSpPr>
        <p:spPr>
          <a:xfrm>
            <a:off x="11561762" y="6227762"/>
            <a:ext cx="266700" cy="2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27" name="Google Shape;127;p15"/>
          <p:cNvSpPr txBox="1"/>
          <p:nvPr>
            <p:ph type="title"/>
          </p:nvPr>
        </p:nvSpPr>
        <p:spPr>
          <a:xfrm>
            <a:off x="838200" y="33020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Key Findings 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   "/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2"/>
                </a:solidFill>
                <a:latin typeface="Arial   "/>
                <a:ea typeface="Arial   "/>
                <a:cs typeface="Arial   "/>
                <a:sym typeface="Arial   "/>
              </a:rPr>
              <a:t>‹#›</a:t>
            </a:fld>
            <a:endParaRPr b="0" i="1" sz="1000" u="none" cap="none" strike="noStrike">
              <a:solidFill>
                <a:schemeClr val="dk2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descr="Beige rectangle" id="129" name="Google Shape;129;p15"/>
          <p:cNvSpPr/>
          <p:nvPr/>
        </p:nvSpPr>
        <p:spPr>
          <a:xfrm>
            <a:off x="947737" y="1323975"/>
            <a:ext cx="4535487" cy="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63575" y="1898650"/>
            <a:ext cx="9640887" cy="3786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Fear or Greed alone does NOT change trader profits.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Traders do NOT automatically perform better in Greed or worse in Fear.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Overall profits stay almost the same in both emotional conditions.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  "/>
              <a:buNone/>
            </a:pPr>
            <a:br>
              <a:rPr b="0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</a:br>
            <a:r>
              <a:rPr b="0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What </a:t>
            </a:r>
            <a:r>
              <a:rPr b="0" i="1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does</a:t>
            </a:r>
            <a:r>
              <a:rPr b="0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matter is </a:t>
            </a:r>
            <a:r>
              <a:rPr b="1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how sentiment changes</a:t>
            </a:r>
            <a:r>
              <a:rPr b="0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, not the level.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Sudden spikes in fear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Sharp rises in greed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These emotional swings increase market volatility → trader results become more unstable.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Trader behavior (win rate &amp; leverage) impacts performance far more than sentiment.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eige oval" id="136" name="Google Shape;136;p16"/>
          <p:cNvSpPr/>
          <p:nvPr/>
        </p:nvSpPr>
        <p:spPr>
          <a:xfrm>
            <a:off x="11561762" y="6227762"/>
            <a:ext cx="266700" cy="2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37" name="Google Shape;137;p16"/>
          <p:cNvSpPr txBox="1"/>
          <p:nvPr>
            <p:ph type="title"/>
          </p:nvPr>
        </p:nvSpPr>
        <p:spPr>
          <a:xfrm>
            <a:off x="838200" y="33020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Statistics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   "/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2"/>
                </a:solidFill>
                <a:latin typeface="Arial   "/>
                <a:ea typeface="Arial   "/>
                <a:cs typeface="Arial   "/>
                <a:sym typeface="Arial   "/>
              </a:rPr>
              <a:t>‹#›</a:t>
            </a:fld>
            <a:endParaRPr b="0" i="1" sz="1000" u="none" cap="none" strike="noStrike">
              <a:solidFill>
                <a:schemeClr val="dk2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descr="Beige rectangle" id="139" name="Google Shape;139;p16"/>
          <p:cNvSpPr/>
          <p:nvPr/>
        </p:nvSpPr>
        <p:spPr>
          <a:xfrm>
            <a:off x="947737" y="1323975"/>
            <a:ext cx="4535487" cy="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63575" y="1898650"/>
            <a:ext cx="9640887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  "/>
              <a:buNone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We tested the data with several statistical methods.</a:t>
            </a:r>
            <a:b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</a:b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In simple terms: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No significant difference</a:t>
            </a: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in average profit between Fear and Greed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Very weak relationship</a:t>
            </a: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between sentiment score and trader profit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Win/loss rate barely changes</a:t>
            </a: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across sentiment types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Profit patterns are </a:t>
            </a: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not normal</a:t>
            </a: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and behave differently in extreme conditions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  "/>
              <a:buNone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Conclusion:</a:t>
            </a:r>
            <a:b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</a:b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Sentiment is not a strong direct driver of profit.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eige oval" id="146" name="Google Shape;146;p17"/>
          <p:cNvSpPr/>
          <p:nvPr/>
        </p:nvSpPr>
        <p:spPr>
          <a:xfrm>
            <a:off x="11561762" y="6227762"/>
            <a:ext cx="266700" cy="2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47" name="Google Shape;147;p17"/>
          <p:cNvSpPr txBox="1"/>
          <p:nvPr>
            <p:ph type="title"/>
          </p:nvPr>
        </p:nvSpPr>
        <p:spPr>
          <a:xfrm>
            <a:off x="838200" y="33020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Statistics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   "/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2"/>
                </a:solidFill>
                <a:latin typeface="Arial   "/>
                <a:ea typeface="Arial   "/>
                <a:cs typeface="Arial   "/>
                <a:sym typeface="Arial   "/>
              </a:rPr>
              <a:t>‹#›</a:t>
            </a:fld>
            <a:endParaRPr b="0" i="1" sz="1000" u="none" cap="none" strike="noStrike">
              <a:solidFill>
                <a:schemeClr val="dk2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descr="Beige rectangle" id="149" name="Google Shape;149;p17"/>
          <p:cNvSpPr/>
          <p:nvPr/>
        </p:nvSpPr>
        <p:spPr>
          <a:xfrm>
            <a:off x="947737" y="1323975"/>
            <a:ext cx="4535487" cy="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63575" y="1898650"/>
            <a:ext cx="9640887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  "/>
              <a:buNone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We tested the data with several statistical methods.</a:t>
            </a:r>
            <a:b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</a:b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In simple terms: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No significant difference</a:t>
            </a: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in average profit between Fear and Greed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Very weak relationship</a:t>
            </a: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between sentiment score and trader profit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Win/loss rate barely changes</a:t>
            </a: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across sentiment types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Profit patterns are </a:t>
            </a: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not normal</a:t>
            </a: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and behave differently in extreme conditions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  "/>
              <a:buNone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Conclusion:</a:t>
            </a:r>
            <a:b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</a:b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Sentiment is not a strong direct driver of profit.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eige oval" id="156" name="Google Shape;156;p18"/>
          <p:cNvSpPr/>
          <p:nvPr/>
        </p:nvSpPr>
        <p:spPr>
          <a:xfrm>
            <a:off x="11561762" y="6227762"/>
            <a:ext cx="266700" cy="2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57" name="Google Shape;157;p18"/>
          <p:cNvSpPr txBox="1"/>
          <p:nvPr>
            <p:ph type="title"/>
          </p:nvPr>
        </p:nvSpPr>
        <p:spPr>
          <a:xfrm>
            <a:off x="838200" y="33020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Machine Learning Results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   "/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2"/>
                </a:solidFill>
                <a:latin typeface="Arial   "/>
                <a:ea typeface="Arial   "/>
                <a:cs typeface="Arial   "/>
                <a:sym typeface="Arial   "/>
              </a:rPr>
              <a:t>‹#›</a:t>
            </a:fld>
            <a:endParaRPr b="0" i="1" sz="1000" u="none" cap="none" strike="noStrike">
              <a:solidFill>
                <a:schemeClr val="dk2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descr="Beige rectangle" id="159" name="Google Shape;159;p18"/>
          <p:cNvSpPr/>
          <p:nvPr/>
        </p:nvSpPr>
        <p:spPr>
          <a:xfrm>
            <a:off x="947737" y="1323975"/>
            <a:ext cx="4535487" cy="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63575" y="1898650"/>
            <a:ext cx="9640887" cy="3786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We trained models to predict trader performance from sentiment.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Models could </a:t>
            </a:r>
            <a:r>
              <a:rPr b="1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not</a:t>
            </a: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predict profit reliably.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Why?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Profit depends on many factors: volatility, leverage, trade size, market conditions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Sentiment is just one small piece of the puzzle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However: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Sentiment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trends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 (3-day, 7-day averages) matter more than daily sentiment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Big emotional swings often align with big market swings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eige oval" id="166" name="Google Shape;166;p19"/>
          <p:cNvSpPr/>
          <p:nvPr/>
        </p:nvSpPr>
        <p:spPr>
          <a:xfrm>
            <a:off x="11561762" y="6227762"/>
            <a:ext cx="266700" cy="2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67" name="Google Shape;167;p19"/>
          <p:cNvSpPr txBox="1"/>
          <p:nvPr>
            <p:ph type="title"/>
          </p:nvPr>
        </p:nvSpPr>
        <p:spPr>
          <a:xfrm>
            <a:off x="838200" y="33020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>
                <a:solidFill>
                  <a:schemeClr val="dk1"/>
                </a:solidFill>
              </a:rPr>
              <a:t>What This Means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   "/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2"/>
                </a:solidFill>
                <a:latin typeface="Arial   "/>
                <a:ea typeface="Arial   "/>
                <a:cs typeface="Arial   "/>
                <a:sym typeface="Arial   "/>
              </a:rPr>
              <a:t>‹#›</a:t>
            </a:fld>
            <a:endParaRPr b="0" i="1" sz="1000" u="none" cap="none" strike="noStrike">
              <a:solidFill>
                <a:schemeClr val="dk2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descr="Beige rectangle" id="169" name="Google Shape;169;p19"/>
          <p:cNvSpPr/>
          <p:nvPr/>
        </p:nvSpPr>
        <p:spPr>
          <a:xfrm>
            <a:off x="947737" y="1323975"/>
            <a:ext cx="4535487" cy="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663575" y="1898650"/>
            <a:ext cx="11668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Traders should not blindly rely on Fear–Greed levels.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152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But they should pay attention to:	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3810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Rapid changes in sentiment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3810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Extreme sentiment events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152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These often signal unstable market conditions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eige oval" id="176" name="Google Shape;176;p20"/>
          <p:cNvSpPr/>
          <p:nvPr/>
        </p:nvSpPr>
        <p:spPr>
          <a:xfrm>
            <a:off x="11561762" y="6227762"/>
            <a:ext cx="266700" cy="2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77" name="Google Shape;177;p20"/>
          <p:cNvSpPr txBox="1"/>
          <p:nvPr>
            <p:ph type="title"/>
          </p:nvPr>
        </p:nvSpPr>
        <p:spPr>
          <a:xfrm>
            <a:off x="838200" y="3302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>
                <a:solidFill>
                  <a:schemeClr val="dk1"/>
                </a:solidFill>
              </a:rPr>
              <a:t>Conclusion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1468844" y="6174902"/>
            <a:ext cx="357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   "/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2"/>
                </a:solidFill>
                <a:latin typeface="Arial   "/>
                <a:ea typeface="Arial   "/>
                <a:cs typeface="Arial   "/>
                <a:sym typeface="Arial   "/>
              </a:rPr>
              <a:t>‹#›</a:t>
            </a:fld>
            <a:endParaRPr b="0" i="1" sz="1000" u="none" cap="none" strike="noStrike">
              <a:solidFill>
                <a:schemeClr val="dk2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descr="Beige rectangle" id="179" name="Google Shape;179;p20"/>
          <p:cNvSpPr/>
          <p:nvPr/>
        </p:nvSpPr>
        <p:spPr>
          <a:xfrm>
            <a:off x="947737" y="1323975"/>
            <a:ext cx="4531538" cy="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63575" y="1898650"/>
            <a:ext cx="11668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Market emotions influence market behavior — but indirectly.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152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Sentiment level ≠ Profit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152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Sentiment change + trader behavior = Much stronger indicators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152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The market reacts more to shifts in mood, not the mood itself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152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To improve performance, traders should combine sentiment with: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3810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Volatility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3810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Trend analysis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  <a:p>
            <a:pPr indent="-3810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   "/>
                <a:ea typeface="Arial   "/>
                <a:cs typeface="Arial   "/>
                <a:sym typeface="Arial   "/>
              </a:rPr>
              <a:t>Risk management</a:t>
            </a:r>
            <a:endParaRPr sz="2400">
              <a:solidFill>
                <a:schemeClr val="dk1"/>
              </a:solidFill>
              <a:latin typeface="Arial   "/>
              <a:ea typeface="Arial   "/>
              <a:cs typeface="Arial   "/>
              <a:sym typeface="Arial   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30">
      <a:dk1>
        <a:srgbClr val="000000"/>
      </a:dk1>
      <a:lt1>
        <a:srgbClr val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